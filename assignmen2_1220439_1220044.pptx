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laypen Sans" charset="1" panose="00000000000000000000"/>
      <p:regular r:id="rId23"/>
    </p:embeddedFont>
    <p:embeddedFont>
      <p:font typeface="Playpen Sans Bold" charset="1" panose="00000000000000000000"/>
      <p:regular r:id="rId24"/>
    </p:embeddedFont>
    <p:embeddedFont>
      <p:font typeface="Garet" charset="1" panose="00000000000000000000"/>
      <p:regular r:id="rId25"/>
    </p:embeddedFont>
    <p:embeddedFont>
      <p:font typeface="Alexandria Bold" charset="1" panose="00000000000000000000"/>
      <p:regular r:id="rId26"/>
    </p:embeddedFont>
    <p:embeddedFont>
      <p:font typeface="Garet Bold" charset="1" panose="00000000000000000000"/>
      <p:regular r:id="rId27"/>
    </p:embeddedFont>
    <p:embeddedFont>
      <p:font typeface="Garet Bold Italics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791122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7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7" y="7684968"/>
                </a:lnTo>
                <a:lnTo>
                  <a:pt x="768496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68325" y="2306717"/>
            <a:ext cx="12951349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F3D3E"/>
                </a:solidFill>
                <a:latin typeface="Playpen Sans"/>
                <a:ea typeface="Playpen Sans"/>
                <a:cs typeface="Playpen Sans"/>
                <a:sym typeface="Playpen Sans"/>
              </a:rPr>
              <a:t>MACHINE LEARNING AND DATA SCIENCE - ENCS5341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2982" y="4630743"/>
            <a:ext cx="10162036" cy="75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Playpen Sans"/>
                <a:ea typeface="Playpen Sans"/>
                <a:cs typeface="Playpen Sans"/>
                <a:sym typeface="Playpen Sans"/>
              </a:rPr>
              <a:t>Assignment #2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23693" y="5974560"/>
            <a:ext cx="5809655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F3D3E"/>
                </a:solidFill>
                <a:latin typeface="Playpen Sans"/>
                <a:ea typeface="Playpen Sans"/>
                <a:cs typeface="Playpen Sans"/>
                <a:sym typeface="Playpen Sans"/>
              </a:rPr>
              <a:t>NADEEN JABER 1220044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F3D3E"/>
                </a:solidFill>
                <a:latin typeface="Playpen Sans"/>
                <a:ea typeface="Playpen Sans"/>
                <a:cs typeface="Playpen Sans"/>
                <a:sym typeface="Playpen Sans"/>
              </a:rPr>
              <a:t>TASNEEM SHELLEH  1220439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F3D3E"/>
                </a:solidFill>
                <a:latin typeface="Playpen Sans"/>
                <a:ea typeface="Playpen Sans"/>
                <a:cs typeface="Playpen Sans"/>
                <a:sym typeface="Playpen Sans"/>
              </a:rPr>
              <a:t>SECTION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0522" y="3378518"/>
            <a:ext cx="14843734" cy="234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8"/>
              </a:lnSpc>
            </a:pPr>
            <a:r>
              <a:rPr lang="en-US" b="true" sz="6777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PART 1 – NON-LINEAR REGRESSION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5039" y="2338626"/>
            <a:ext cx="16574261" cy="23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part A: Ridge Regression (Polynomial Basis)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 generated 25 noisy samples 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from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function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sin(5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πx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) 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and f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it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ted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polynomial 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res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on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models</a:t>
            </a:r>
            <a:r>
              <a:rPr lang="en-US" sz="3268" strike="noStrike" u="none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using different λ values. The goal was to compare how regularization affects overfitting and generalization.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039" y="5226987"/>
            <a:ext cx="16290085" cy="28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Part B: Non-Linear Regression with RBFs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Using the same dataset from part A, we trained models with Gaussian RBF basis functions using different numbers of RBFs (K = 1, 5, 10, 50). We evaluated how model flexibility changes with K and which configuration generalizes best.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6439" y="400401"/>
            <a:ext cx="14843734" cy="1142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8"/>
              </a:lnSpc>
            </a:pPr>
            <a:r>
              <a:rPr lang="en-US" b="true" sz="6777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OVERVIEW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97256" y="566947"/>
            <a:ext cx="10034060" cy="98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4"/>
              </a:lnSpc>
            </a:pPr>
            <a:r>
              <a:rPr lang="en-US" b="true" sz="578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8017" y="2647268"/>
            <a:ext cx="17291965" cy="405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dataset contains 25 samples with input values Xi ∈ [0,1], generated using np.random.seed() function 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Each output is generated from the nonlinear function: y = sin(5𝜋𝑥) + 𝜀, where the noise term 𝜀 ∈ [-0.3,0.3], generated using np.random.uniform(-0.3, 0.3)</a:t>
            </a:r>
          </a:p>
          <a:p>
            <a:pPr algn="l">
              <a:lnSpc>
                <a:spcPts val="4576"/>
              </a:lnSpc>
            </a:pP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6439" y="438501"/>
            <a:ext cx="15776750" cy="75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b="true" sz="4477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PART A: RIDGE REGRESSION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859" y="1531566"/>
            <a:ext cx="17818282" cy="869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Polynomial Features: x → [1, x, x², ..., x⁹] (10 features = 9 "degree” + 1 “bias”) to capture non-linear relationships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Ridge Formula: θ = (XᵀX + λI)⁻¹Xᵀy  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- θ: Model parameters/weights for each polynomial term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 - λ: Regularization strength controlling model complexity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Lambda Values Tested: [0, 0.0001, 0.01, 1, 10] 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- High degree polynomial (d=9) with limited data (n=25) suggests overfitting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risk, it typically requires regularization.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- Started with λ = 0 (unregularized), included very small λ (0.0001) to test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minimal regularization, extended to larger values (1, 10) to observe smoothing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effects.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     </a:t>
            </a:r>
          </a:p>
          <a:p>
            <a:pPr algn="l">
              <a:lnSpc>
                <a:spcPts val="457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86391" y="1497317"/>
            <a:ext cx="11799226" cy="7760983"/>
          </a:xfrm>
          <a:custGeom>
            <a:avLst/>
            <a:gdLst/>
            <a:ahLst/>
            <a:cxnLst/>
            <a:rect r="r" b="b" t="t" l="l"/>
            <a:pathLst>
              <a:path h="7760983" w="11799226">
                <a:moveTo>
                  <a:pt x="0" y="0"/>
                </a:moveTo>
                <a:lnTo>
                  <a:pt x="11799225" y="0"/>
                </a:lnTo>
                <a:lnTo>
                  <a:pt x="11799225" y="7760983"/>
                </a:lnTo>
                <a:lnTo>
                  <a:pt x="0" y="7760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12" t="0" r="-48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6439" y="438501"/>
            <a:ext cx="15776750" cy="75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b="true" sz="4477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PART A: RIDGE REGRESSION OUTCOME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667" y="2251038"/>
            <a:ext cx="5476787" cy="649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091" indent="-333545" lvl="1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λ = 0: major overfitting, worst generalization.</a:t>
            </a:r>
          </a:p>
          <a:p>
            <a:pPr algn="l" marL="667091" indent="-333545" lvl="1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λ = 0.0001: Overfitting is reduced, but still present.</a:t>
            </a:r>
          </a:p>
          <a:p>
            <a:pPr algn="l" marL="667091" indent="-333545" lvl="1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λ = 0.01: optimal curve, best generalization.</a:t>
            </a:r>
          </a:p>
          <a:p>
            <a:pPr algn="l" marL="667091" indent="-333545" lvl="1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λ = 1: Too smooth,  underfitting.</a:t>
            </a:r>
          </a:p>
          <a:p>
            <a:pPr algn="l" marL="667091" indent="-333545" lvl="1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λ = 10: smoother, underfitting, nearly linear.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3014" y="962025"/>
            <a:ext cx="16110174" cy="128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8"/>
              </a:lnSpc>
            </a:pPr>
            <a:r>
              <a:rPr lang="en-US" b="true" sz="3713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PART B: NON-LINEAR REGRESSION WITH RBFS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859" y="2913857"/>
            <a:ext cx="17818282" cy="579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Gaussian RBF Basis Functions: φⱼ(x) = exp(-(x - α)²/(2σ²)) 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- Centers α: K evenly-spaced points in [0,1], K ∈ {1, 5, 10, 50}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- Width σ: Adaptive scaling σ = 1.5 × (1/(K-1))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 Matrix: Φ (N × K+1) ; N: number of data points, K: number of RBF centers, 1: for the bias (intercept) column 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- Column 0: All ones, bias (intercept)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   - Columns 1 to K: RBF activations for each center</a:t>
            </a:r>
          </a:p>
          <a:p>
            <a:pPr algn="l">
              <a:lnSpc>
                <a:spcPts val="4576"/>
              </a:lnSpc>
            </a:pP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Training: θ = Φ⁺y (pseudoinverse, no regularization)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94399" y="1660250"/>
            <a:ext cx="11610834" cy="7598050"/>
          </a:xfrm>
          <a:custGeom>
            <a:avLst/>
            <a:gdLst/>
            <a:ahLst/>
            <a:cxnLst/>
            <a:rect r="r" b="b" t="t" l="l"/>
            <a:pathLst>
              <a:path h="7598050" w="11610834">
                <a:moveTo>
                  <a:pt x="0" y="0"/>
                </a:moveTo>
                <a:lnTo>
                  <a:pt x="11610835" y="0"/>
                </a:lnTo>
                <a:lnTo>
                  <a:pt x="11610835" y="7598050"/>
                </a:lnTo>
                <a:lnTo>
                  <a:pt x="0" y="7598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32" t="0" r="-453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0861" y="399123"/>
            <a:ext cx="16110174" cy="62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8"/>
              </a:lnSpc>
            </a:pPr>
            <a:r>
              <a:rPr lang="en-US" b="true" sz="3713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PART B: NON-LINEAR REGRESSION WITH RBFS OUTCOME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361" y="2336988"/>
            <a:ext cx="5668175" cy="5546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3912" indent="-311956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K = 1: Severe Underfitting, worst performance, nearly flat line.</a:t>
            </a:r>
          </a:p>
          <a:p>
            <a:pPr algn="l" marL="623912" indent="-311956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K = 5: Underfitting, amplitude too low in some regions.</a:t>
            </a:r>
          </a:p>
          <a:p>
            <a:pPr algn="l" marL="623912" indent="-311956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K = 10: Best generalization performance, optimal balance of flexibility.</a:t>
            </a:r>
          </a:p>
          <a:p>
            <a:pPr algn="l" marL="623912" indent="-311956" lvl="1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K = 50: Overfitting, very close fit to data points.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9500" y="544513"/>
            <a:ext cx="1638899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545454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KEY</a:t>
            </a:r>
            <a:r>
              <a:rPr lang="en-US" b="true" sz="5000">
                <a:solidFill>
                  <a:srgbClr val="545454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FINDINGS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4859" y="5784674"/>
            <a:ext cx="17818282" cy="23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Part B: Non-Linear Regression with RBFs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Increasing K improves the ability to fit nonlinear patterns, but large K causes overfitting, and small K causes underfitting.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RBFs provide smooth, localized control over the function.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4859" y="2228935"/>
            <a:ext cx="17818282" cy="23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part A: Ridge Regression Implementation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Polynomial regression is sensitive to model complexity (degree).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Increasing λ reduces overfitting but too large λ causes underfitting.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 moderate λ produces the smoothest and most reliable predictive curve.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7442" y="3645413"/>
            <a:ext cx="14833116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PART2 - CUSTOMER CHURN PREDICTION USING LOGISTIC REGRESSION</a:t>
            </a:r>
          </a:p>
          <a:p>
            <a:pPr algn="ctr">
              <a:lnSpc>
                <a:spcPts val="7000"/>
              </a:lnSpc>
            </a:pPr>
          </a:p>
          <a:p>
            <a:pPr algn="ctr">
              <a:lnSpc>
                <a:spcPts val="70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5875" y="2287906"/>
            <a:ext cx="15853425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Objective:</a:t>
            </a: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Predict customer churn using Logistic Regression</a:t>
            </a:r>
          </a:p>
          <a:p>
            <a:pPr algn="l">
              <a:lnSpc>
                <a:spcPts val="4576"/>
              </a:lnSpc>
            </a:pPr>
            <a:r>
              <a:rPr lang="en-US" sz="3268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Dataset: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Total samples: 3,500 customers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Features: Age, Income, Gender, Product Type, Support Calls, Tenure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Target: Churn Status (0 = stay, 1 = Churned)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859421" y="6267672"/>
            <a:ext cx="14569159" cy="1796129"/>
          </a:xfrm>
          <a:custGeom>
            <a:avLst/>
            <a:gdLst/>
            <a:ahLst/>
            <a:cxnLst/>
            <a:rect r="r" b="b" t="t" l="l"/>
            <a:pathLst>
              <a:path h="1796129" w="14569159">
                <a:moveTo>
                  <a:pt x="0" y="0"/>
                </a:moveTo>
                <a:lnTo>
                  <a:pt x="14569158" y="0"/>
                </a:lnTo>
                <a:lnTo>
                  <a:pt x="14569158" y="1796128"/>
                </a:lnTo>
                <a:lnTo>
                  <a:pt x="0" y="1796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78" t="0" r="-2789" b="-88367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541415" y="544513"/>
            <a:ext cx="920516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OVERVIEW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772357"/>
            <a:ext cx="920516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DATA PREPROCESSING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6329" y="1939169"/>
            <a:ext cx="15035342" cy="9051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08"/>
              </a:lnSpc>
            </a:pPr>
            <a:r>
              <a:rPr lang="en-US" sz="3649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Preprocessing Steps:</a:t>
            </a:r>
          </a:p>
          <a:p>
            <a:pPr algn="just">
              <a:lnSpc>
                <a:spcPts val="5108"/>
              </a:lnSpc>
            </a:pPr>
          </a:p>
          <a:p>
            <a:pPr algn="just" marL="1575738" indent="-525246" lvl="2">
              <a:lnSpc>
                <a:spcPts val="5108"/>
              </a:lnSpc>
              <a:buAutoNum type="alphaLcPeriod" startAt="1"/>
            </a:pPr>
            <a:r>
              <a:rPr lang="en-US" sz="364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Removed CustomerID </a:t>
            </a:r>
          </a:p>
          <a:p>
            <a:pPr algn="just" marL="1575738" indent="-525246" lvl="2">
              <a:lnSpc>
                <a:spcPts val="5108"/>
              </a:lnSpc>
              <a:buAutoNum type="alphaLcPeriod" startAt="1"/>
            </a:pPr>
            <a:r>
              <a:rPr lang="en-US" sz="364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Handled missing values using median imputation</a:t>
            </a:r>
          </a:p>
          <a:p>
            <a:pPr algn="just" marL="1575738" indent="-525246" lvl="2">
              <a:lnSpc>
                <a:spcPts val="5108"/>
              </a:lnSpc>
              <a:buAutoNum type="alphaLcPeriod" startAt="1"/>
            </a:pPr>
            <a:r>
              <a:rPr lang="en-US" sz="364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Standardization: Applied StandardScaler to all features</a:t>
            </a:r>
          </a:p>
          <a:p>
            <a:pPr algn="just" marL="1575738" indent="-525246" lvl="2">
              <a:lnSpc>
                <a:spcPts val="5108"/>
              </a:lnSpc>
              <a:buAutoNum type="alphaLcPeriod" startAt="1"/>
            </a:pPr>
            <a:r>
              <a:rPr lang="en-US" sz="364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Stratified split to maintain class distribution</a:t>
            </a:r>
          </a:p>
          <a:p>
            <a:pPr algn="just">
              <a:lnSpc>
                <a:spcPts val="5108"/>
              </a:lnSpc>
            </a:pPr>
          </a:p>
          <a:p>
            <a:pPr algn="just">
              <a:lnSpc>
                <a:spcPts val="5108"/>
              </a:lnSpc>
            </a:pPr>
            <a:r>
              <a:rPr lang="en-US" sz="3649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Data Split:</a:t>
            </a:r>
          </a:p>
          <a:p>
            <a:pPr algn="just" marL="1575738" indent="-525246" lvl="2">
              <a:lnSpc>
                <a:spcPts val="5108"/>
              </a:lnSpc>
              <a:buFont typeface="Arial"/>
              <a:buChar char="⚬"/>
            </a:pPr>
            <a:r>
              <a:rPr lang="en-US" sz="364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Train: 2500 samples</a:t>
            </a:r>
          </a:p>
          <a:p>
            <a:pPr algn="just" marL="1575738" indent="-525246" lvl="2">
              <a:lnSpc>
                <a:spcPts val="5108"/>
              </a:lnSpc>
              <a:buFont typeface="Arial"/>
              <a:buChar char="⚬"/>
            </a:pPr>
            <a:r>
              <a:rPr lang="en-US" sz="364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Validation: 500 samples</a:t>
            </a:r>
          </a:p>
          <a:p>
            <a:pPr algn="just" marL="1575738" indent="-525246" lvl="2">
              <a:lnSpc>
                <a:spcPts val="5108"/>
              </a:lnSpc>
              <a:buFont typeface="Arial"/>
              <a:buChar char="⚬"/>
            </a:pPr>
            <a:r>
              <a:rPr lang="en-US" sz="364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Test: 500 samples</a:t>
            </a:r>
          </a:p>
          <a:p>
            <a:pPr algn="just">
              <a:lnSpc>
                <a:spcPts val="5108"/>
              </a:lnSpc>
            </a:pPr>
          </a:p>
          <a:p>
            <a:pPr algn="just">
              <a:lnSpc>
                <a:spcPts val="5108"/>
              </a:lnSpc>
            </a:pPr>
          </a:p>
          <a:p>
            <a:pPr algn="ctr">
              <a:lnSpc>
                <a:spcPts val="5108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374837"/>
            <a:ext cx="9205169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LOGISTIC REGRESSION MODELS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28300" y="3084752"/>
            <a:ext cx="11400286" cy="579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Linear Logistic Regression: Basic model.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Polynomial Logistic Regression: Degrees 2, 5, 9 to capture non-linear relationships.</a:t>
            </a:r>
          </a:p>
          <a:p>
            <a:pPr algn="l">
              <a:lnSpc>
                <a:spcPts val="4576"/>
              </a:lnSpc>
            </a:pP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All models trained with: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class_weight='balanced' (critical for imbalanced data)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max_iter=2000-5000 for convergence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  <a:p>
            <a:pPr algn="ctr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2410504"/>
            <a:ext cx="920516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EVALUATION METRICS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05732" y="3892350"/>
            <a:ext cx="11876536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Accuracy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Precision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Recall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F1-like score (used to select best model)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ROC Curve &amp; AUC for model discrimination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612210" y="2219325"/>
          <a:ext cx="15237833" cy="5848350"/>
        </p:xfrm>
        <a:graphic>
          <a:graphicData uri="http://schemas.openxmlformats.org/drawingml/2006/table">
            <a:tbl>
              <a:tblPr/>
              <a:tblGrid>
                <a:gridCol w="3741210"/>
                <a:gridCol w="2911992"/>
                <a:gridCol w="2882634"/>
                <a:gridCol w="3388790"/>
                <a:gridCol w="2313207"/>
              </a:tblGrid>
              <a:tr h="11696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Playpen Sans Bold"/>
                          <a:ea typeface="Playpen Sans Bold"/>
                          <a:cs typeface="Playpen Sans Bold"/>
                          <a:sym typeface="Playpen Sans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Playpen Sans Bold"/>
                          <a:ea typeface="Playpen Sans Bold"/>
                          <a:cs typeface="Playpen Sans Bold"/>
                          <a:sym typeface="Playpen Sans Bold"/>
                        </a:rPr>
                        <a:t>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Playpen Sans Bold"/>
                          <a:ea typeface="Playpen Sans Bold"/>
                          <a:cs typeface="Playpen Sans Bold"/>
                          <a:sym typeface="Playpen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Playpen Sans Bold"/>
                          <a:ea typeface="Playpen Sans Bold"/>
                          <a:cs typeface="Playpen Sans Bold"/>
                          <a:sym typeface="Playpen Sans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Playpen Sans Bold"/>
                          <a:ea typeface="Playpen Sans Bold"/>
                          <a:cs typeface="Playpen Sans Bold"/>
                          <a:sym typeface="Playpen Sa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81.6%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0.324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Linear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19.3%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100%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88.2%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0.416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poly-2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26.6%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95.5%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94.6%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0.597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poly-5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44.4%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90.9%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96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95.4%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b="true">
                          <a:solidFill>
                            <a:srgbClr val="000000"/>
                          </a:solidFill>
                          <a:latin typeface="Playpen Sans Bold"/>
                          <a:ea typeface="Playpen Sans Bold"/>
                          <a:cs typeface="Playpen Sans Bold"/>
                          <a:sym typeface="Playpen Sans Bold"/>
                        </a:rPr>
                        <a:t>0.623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poly-9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48.7%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000000"/>
                          </a:solidFill>
                          <a:latin typeface="Playpen Sans"/>
                          <a:ea typeface="Playpen Sans"/>
                          <a:cs typeface="Playpen Sans"/>
                          <a:sym typeface="Playpen Sans"/>
                        </a:rPr>
                        <a:t>86.4%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541415" y="1151769"/>
            <a:ext cx="920516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RESULTS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66356" y="8389365"/>
            <a:ext cx="10155287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BEST M</a:t>
            </a:r>
            <a:r>
              <a:rPr lang="en-US" sz="30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ODEL SELECTED BASED ON F1-LIKE SCORE.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255319" y="1157237"/>
            <a:ext cx="13777361" cy="8306943"/>
          </a:xfrm>
          <a:custGeom>
            <a:avLst/>
            <a:gdLst/>
            <a:ahLst/>
            <a:cxnLst/>
            <a:rect r="r" b="b" t="t" l="l"/>
            <a:pathLst>
              <a:path h="8306943" w="13777361">
                <a:moveTo>
                  <a:pt x="0" y="0"/>
                </a:moveTo>
                <a:lnTo>
                  <a:pt x="13777362" y="0"/>
                </a:lnTo>
                <a:lnTo>
                  <a:pt x="13777362" y="8306943"/>
                </a:lnTo>
                <a:lnTo>
                  <a:pt x="0" y="83069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4" r="0" b="-27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1415" y="165100"/>
            <a:ext cx="920516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3F3D3E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ROC CURVE ANALYSIS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22086"/>
            <a:ext cx="16388999" cy="695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 i="true" b="true">
                <a:solidFill>
                  <a:srgbClr val="545454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Main Findings: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Class imbalance was critical to address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Without balancing: Models predict all as "No Churn"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With balancing: High recall achieved across all models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Polynomial features improve performance significantly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Linear: 81.6% →  Poly-9: 95.4% validation accuracy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Trade-off between complexity and overfitting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Higher degree = Better fit BUT risk of overfitting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Poly-9 optimal for this dataset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Non-linear decision boundaries essential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Customer churn involves complex feature interactions</a:t>
            </a:r>
          </a:p>
          <a:p>
            <a:pPr algn="l" marL="1411494" indent="-470498" lvl="2">
              <a:lnSpc>
                <a:spcPts val="4576"/>
              </a:lnSpc>
              <a:buFont typeface="Arial"/>
              <a:buChar char="⚬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Simple linear model insufficient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49500" y="544513"/>
            <a:ext cx="16388999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545454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KEY</a:t>
            </a:r>
            <a:r>
              <a:rPr lang="en-US" b="true" sz="5000">
                <a:solidFill>
                  <a:srgbClr val="545454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FINDINGS &amp;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DAG5mp2N6zI</dc:identifier>
  <dcterms:modified xsi:type="dcterms:W3CDTF">2011-08-01T06:04:30Z</dcterms:modified>
  <cp:revision>1</cp:revision>
  <dc:title>Lorem ipsum dolor sit amet, consectetur adipiscing elit. Duis vel dolor ante. Nullam feugiat egestas elit et vehicula.</dc:title>
</cp:coreProperties>
</file>